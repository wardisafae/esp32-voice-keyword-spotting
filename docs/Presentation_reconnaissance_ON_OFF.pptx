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 Condensed" charset="1" panose="02030506070405020303"/>
      <p:regular r:id="rId17"/>
    </p:embeddedFont>
    <p:embeddedFont>
      <p:font typeface="Times New Roman MT Condensed Italics" charset="1" panose="02030506070405090303"/>
      <p:regular r:id="rId18"/>
    </p:embeddedFont>
    <p:embeddedFont>
      <p:font typeface="Be Vietnam" charset="1" panose="00000500000000000000"/>
      <p:regular r:id="rId19"/>
    </p:embeddedFont>
    <p:embeddedFont>
      <p:font typeface="Be Vietnam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14.png" Type="http://schemas.openxmlformats.org/officeDocument/2006/relationships/image"/><Relationship Id="rId3" Target="../media/image21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18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8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VAHM2kQn4r0.mp4" Type="http://schemas.openxmlformats.org/officeDocument/2006/relationships/video"/><Relationship Id="rId4" Target="../media/VAHM2kQn4r0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3605" y="-147037"/>
            <a:ext cx="3534395" cy="10581074"/>
            <a:chOff x="0" y="0"/>
            <a:chExt cx="930869" cy="27867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0869" cy="2786785"/>
            </a:xfrm>
            <a:custGeom>
              <a:avLst/>
              <a:gdLst/>
              <a:ahLst/>
              <a:cxnLst/>
              <a:rect r="r" b="b" t="t" l="l"/>
              <a:pathLst>
                <a:path h="2786785" w="930869">
                  <a:moveTo>
                    <a:pt x="0" y="0"/>
                  </a:moveTo>
                  <a:lnTo>
                    <a:pt x="930869" y="0"/>
                  </a:lnTo>
                  <a:lnTo>
                    <a:pt x="930869" y="2786785"/>
                  </a:lnTo>
                  <a:lnTo>
                    <a:pt x="0" y="278678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1000"/>
                  </a:srgbClr>
                </a:gs>
                <a:gs pos="100000">
                  <a:srgbClr val="3533CD">
                    <a:alpha val="81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930869" cy="2777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>
            <a:off x="0" y="8367657"/>
            <a:ext cx="12138503" cy="1485665"/>
          </a:xfrm>
          <a:custGeom>
            <a:avLst/>
            <a:gdLst/>
            <a:ahLst/>
            <a:cxnLst/>
            <a:rect r="r" b="b" t="t" l="l"/>
            <a:pathLst>
              <a:path h="1485665" w="12138503">
                <a:moveTo>
                  <a:pt x="12138503" y="0"/>
                </a:moveTo>
                <a:lnTo>
                  <a:pt x="12138503" y="245678"/>
                </a:lnTo>
                <a:cubicBezTo>
                  <a:pt x="12138503" y="306307"/>
                  <a:pt x="12114419" y="364453"/>
                  <a:pt x="12071548" y="407323"/>
                </a:cubicBezTo>
                <a:cubicBezTo>
                  <a:pt x="12028677" y="450194"/>
                  <a:pt x="11970532" y="474278"/>
                  <a:pt x="11909903" y="474278"/>
                </a:cubicBezTo>
                <a:lnTo>
                  <a:pt x="11030442" y="474278"/>
                </a:lnTo>
                <a:cubicBezTo>
                  <a:pt x="10969813" y="474278"/>
                  <a:pt x="10911668" y="498363"/>
                  <a:pt x="10868798" y="541234"/>
                </a:cubicBezTo>
                <a:cubicBezTo>
                  <a:pt x="10825927" y="584104"/>
                  <a:pt x="10801842" y="642250"/>
                  <a:pt x="10801842" y="702878"/>
                </a:cubicBezTo>
                <a:lnTo>
                  <a:pt x="10801842" y="1257066"/>
                </a:lnTo>
                <a:cubicBezTo>
                  <a:pt x="10801842" y="1317694"/>
                  <a:pt x="10777758" y="1375840"/>
                  <a:pt x="10734887" y="1418710"/>
                </a:cubicBezTo>
                <a:cubicBezTo>
                  <a:pt x="10692016" y="1461581"/>
                  <a:pt x="10633871" y="1485666"/>
                  <a:pt x="10573242" y="1485666"/>
                </a:cubicBezTo>
                <a:lnTo>
                  <a:pt x="0" y="1485666"/>
                </a:lnTo>
              </a:path>
            </a:pathLst>
          </a:custGeom>
          <a:ln cap="flat" w="285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056235" y="5143500"/>
            <a:ext cx="3709016" cy="3974134"/>
          </a:xfrm>
          <a:custGeom>
            <a:avLst/>
            <a:gdLst/>
            <a:ahLst/>
            <a:cxnLst/>
            <a:rect r="r" b="b" t="t" l="l"/>
            <a:pathLst>
              <a:path h="3974134" w="3709016">
                <a:moveTo>
                  <a:pt x="0" y="0"/>
                </a:moveTo>
                <a:lnTo>
                  <a:pt x="3709017" y="0"/>
                </a:lnTo>
                <a:lnTo>
                  <a:pt x="3709017" y="3974134"/>
                </a:lnTo>
                <a:lnTo>
                  <a:pt x="0" y="3974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152791" y="8513861"/>
            <a:ext cx="163271" cy="1632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7523" y="2954352"/>
            <a:ext cx="12738455" cy="2786459"/>
            <a:chOff x="0" y="0"/>
            <a:chExt cx="16984606" cy="3715278"/>
          </a:xfrm>
        </p:grpSpPr>
        <p:sp>
          <p:nvSpPr>
            <p:cNvPr name="AutoShape 11" id="11"/>
            <p:cNvSpPr/>
            <p:nvPr/>
          </p:nvSpPr>
          <p:spPr>
            <a:xfrm>
              <a:off x="44450" y="0"/>
              <a:ext cx="0" cy="3715278"/>
            </a:xfrm>
            <a:prstGeom prst="line">
              <a:avLst/>
            </a:prstGeom>
            <a:ln cap="rnd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457200" y="-30109"/>
              <a:ext cx="16527406" cy="1887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710"/>
                </a:lnSpc>
              </a:pPr>
              <a:r>
                <a:rPr lang="en-US" sz="8827" spc="-88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RECONNAISSANCE VOCALE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57200" y="1771914"/>
              <a:ext cx="6737402" cy="1731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23"/>
                </a:lnSpc>
              </a:pPr>
              <a:r>
                <a:rPr lang="en-US" sz="8112" i="true" spc="-81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Times New Roman MT Condensed Italics"/>
                  <a:ea typeface="Times New Roman MT Condensed Italics"/>
                  <a:cs typeface="Times New Roman MT Condensed Italics"/>
                  <a:sym typeface="Times New Roman MT Condensed Italics"/>
                </a:rPr>
                <a:t> "ON / OFF"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83119" y="8506099"/>
            <a:ext cx="8003259" cy="37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5"/>
              </a:lnSpc>
            </a:pPr>
            <a:r>
              <a:rPr lang="en-US" sz="2668" spc="181">
                <a:solidFill>
                  <a:srgbClr val="291915"/>
                </a:solidFill>
                <a:latin typeface="Be Vietnam"/>
                <a:ea typeface="Be Vietnam"/>
                <a:cs typeface="Be Vietnam"/>
                <a:sym typeface="Be Vietnam"/>
              </a:rPr>
              <a:t>RÉALISÉ PAR :IMANE BOUJAJ &amp; SAFAE WARDI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845202"/>
            <a:ext cx="18404694" cy="1441798"/>
            <a:chOff x="0" y="0"/>
            <a:chExt cx="4847327" cy="379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379733"/>
            </a:xfrm>
            <a:custGeom>
              <a:avLst/>
              <a:gdLst/>
              <a:ahLst/>
              <a:cxnLst/>
              <a:rect r="r" b="b" t="t" l="l"/>
              <a:pathLst>
                <a:path h="379733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379733"/>
                  </a:lnTo>
                  <a:lnTo>
                    <a:pt x="0" y="379733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37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0931" y="2878023"/>
            <a:ext cx="652489" cy="628021"/>
          </a:xfrm>
          <a:custGeom>
            <a:avLst/>
            <a:gdLst/>
            <a:ahLst/>
            <a:cxnLst/>
            <a:rect r="r" b="b" t="t" l="l"/>
            <a:pathLst>
              <a:path h="628021" w="652489">
                <a:moveTo>
                  <a:pt x="0" y="0"/>
                </a:moveTo>
                <a:lnTo>
                  <a:pt x="652489" y="0"/>
                </a:lnTo>
                <a:lnTo>
                  <a:pt x="652489" y="628021"/>
                </a:lnTo>
                <a:lnTo>
                  <a:pt x="0" y="62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4375" y="2811348"/>
            <a:ext cx="14248345" cy="59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7"/>
              </a:lnSpc>
            </a:pPr>
            <a:r>
              <a:rPr lang="en-US" sz="3498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Réaliser un système de commande vocale 100% hors ligne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75" y="4198870"/>
            <a:ext cx="1395883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Reconnaître les mots "ON" et "OFF" en temps réel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4375" y="5595870"/>
            <a:ext cx="148900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Contrôler une LED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375" y="6992870"/>
            <a:ext cx="1427680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Utiliser l'IA directement sur l'ESP32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0931" y="216834"/>
            <a:ext cx="17422833" cy="15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29191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OBJECTIFS DU PROJET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90931" y="4226172"/>
            <a:ext cx="652489" cy="628021"/>
          </a:xfrm>
          <a:custGeom>
            <a:avLst/>
            <a:gdLst/>
            <a:ahLst/>
            <a:cxnLst/>
            <a:rect r="r" b="b" t="t" l="l"/>
            <a:pathLst>
              <a:path h="628021" w="652489">
                <a:moveTo>
                  <a:pt x="0" y="0"/>
                </a:moveTo>
                <a:lnTo>
                  <a:pt x="652489" y="0"/>
                </a:lnTo>
                <a:lnTo>
                  <a:pt x="652489" y="628021"/>
                </a:lnTo>
                <a:lnTo>
                  <a:pt x="0" y="62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0931" y="5672070"/>
            <a:ext cx="652489" cy="628021"/>
          </a:xfrm>
          <a:custGeom>
            <a:avLst/>
            <a:gdLst/>
            <a:ahLst/>
            <a:cxnLst/>
            <a:rect r="r" b="b" t="t" l="l"/>
            <a:pathLst>
              <a:path h="628021" w="652489">
                <a:moveTo>
                  <a:pt x="0" y="0"/>
                </a:moveTo>
                <a:lnTo>
                  <a:pt x="652489" y="0"/>
                </a:lnTo>
                <a:lnTo>
                  <a:pt x="652489" y="628020"/>
                </a:lnTo>
                <a:lnTo>
                  <a:pt x="0" y="628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0931" y="7119240"/>
            <a:ext cx="652489" cy="628021"/>
          </a:xfrm>
          <a:custGeom>
            <a:avLst/>
            <a:gdLst/>
            <a:ahLst/>
            <a:cxnLst/>
            <a:rect r="r" b="b" t="t" l="l"/>
            <a:pathLst>
              <a:path h="628021" w="652489">
                <a:moveTo>
                  <a:pt x="0" y="0"/>
                </a:moveTo>
                <a:lnTo>
                  <a:pt x="652489" y="0"/>
                </a:lnTo>
                <a:lnTo>
                  <a:pt x="652489" y="628021"/>
                </a:lnTo>
                <a:lnTo>
                  <a:pt x="0" y="62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70545" y="0"/>
            <a:ext cx="3275802" cy="3095573"/>
          </a:xfrm>
          <a:custGeom>
            <a:avLst/>
            <a:gdLst/>
            <a:ahLst/>
            <a:cxnLst/>
            <a:rect r="r" b="b" t="t" l="l"/>
            <a:pathLst>
              <a:path h="3095573" w="3275802">
                <a:moveTo>
                  <a:pt x="0" y="0"/>
                </a:moveTo>
                <a:lnTo>
                  <a:pt x="3275802" y="0"/>
                </a:lnTo>
                <a:lnTo>
                  <a:pt x="3275802" y="3095573"/>
                </a:lnTo>
                <a:lnTo>
                  <a:pt x="0" y="3095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42274" y="4277352"/>
            <a:ext cx="3239773" cy="3531280"/>
            <a:chOff x="0" y="0"/>
            <a:chExt cx="4319697" cy="470837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319697" cy="431969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-711632">
                <a:off x="-82" y="-82"/>
                <a:ext cx="812965" cy="812965"/>
              </a:xfrm>
              <a:custGeom>
                <a:avLst/>
                <a:gdLst/>
                <a:ahLst/>
                <a:cxnLst/>
                <a:rect r="r" b="b" t="t" l="l"/>
                <a:pathLst>
                  <a:path h="812965" w="812965">
                    <a:moveTo>
                      <a:pt x="490010" y="8758"/>
                    </a:moveTo>
                    <a:cubicBezTo>
                      <a:pt x="270353" y="-37373"/>
                      <a:pt x="54889" y="103298"/>
                      <a:pt x="8758" y="322954"/>
                    </a:cubicBezTo>
                    <a:cubicBezTo>
                      <a:pt x="-37373" y="542611"/>
                      <a:pt x="103298" y="758075"/>
                      <a:pt x="322954" y="804206"/>
                    </a:cubicBezTo>
                    <a:cubicBezTo>
                      <a:pt x="542611" y="850337"/>
                      <a:pt x="758075" y="709666"/>
                      <a:pt x="804206" y="490010"/>
                    </a:cubicBezTo>
                    <a:cubicBezTo>
                      <a:pt x="850337" y="270353"/>
                      <a:pt x="709666" y="54889"/>
                      <a:pt x="490010" y="8758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406" t="-22059" r="-22677" b="-25024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98188" y="4281597"/>
              <a:ext cx="4021509" cy="426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b="true" sz="1949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CAPTURE AUDIO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24114" y="4234394"/>
            <a:ext cx="3239773" cy="3574238"/>
            <a:chOff x="0" y="0"/>
            <a:chExt cx="4319697" cy="476565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319697" cy="4319697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6666" t="0" r="-16666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4338874"/>
              <a:ext cx="4021509" cy="426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b="true" sz="1949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INFÉRENCE 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68674" y="4234394"/>
            <a:ext cx="3239773" cy="3574238"/>
            <a:chOff x="0" y="0"/>
            <a:chExt cx="4319697" cy="476565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319697" cy="431969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49094" y="4338874"/>
              <a:ext cx="4021509" cy="426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b="true" sz="1949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COMMANDE PHYSIQUE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1219" y="2266817"/>
            <a:ext cx="4995264" cy="32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 SYSTÈME EMBARQUÉ BASÉ SUR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4309" y="226764"/>
            <a:ext cx="10834770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29191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SOLUTION PROPOSÉE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6983" y="3542239"/>
            <a:ext cx="7962847" cy="5215929"/>
            <a:chOff x="0" y="0"/>
            <a:chExt cx="2097211" cy="1373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211" cy="1373743"/>
            </a:xfrm>
            <a:custGeom>
              <a:avLst/>
              <a:gdLst/>
              <a:ahLst/>
              <a:cxnLst/>
              <a:rect r="r" b="b" t="t" l="l"/>
              <a:pathLst>
                <a:path h="1373743" w="2097211">
                  <a:moveTo>
                    <a:pt x="9723" y="0"/>
                  </a:moveTo>
                  <a:lnTo>
                    <a:pt x="2087488" y="0"/>
                  </a:lnTo>
                  <a:cubicBezTo>
                    <a:pt x="2090067" y="0"/>
                    <a:pt x="2092540" y="1024"/>
                    <a:pt x="2094363" y="2848"/>
                  </a:cubicBezTo>
                  <a:cubicBezTo>
                    <a:pt x="2096186" y="4671"/>
                    <a:pt x="2097211" y="7144"/>
                    <a:pt x="2097211" y="9723"/>
                  </a:cubicBezTo>
                  <a:lnTo>
                    <a:pt x="2097211" y="1364020"/>
                  </a:lnTo>
                  <a:cubicBezTo>
                    <a:pt x="2097211" y="1366599"/>
                    <a:pt x="2096186" y="1369072"/>
                    <a:pt x="2094363" y="1370895"/>
                  </a:cubicBezTo>
                  <a:cubicBezTo>
                    <a:pt x="2092540" y="1372718"/>
                    <a:pt x="2090067" y="1373743"/>
                    <a:pt x="2087488" y="1373743"/>
                  </a:cubicBezTo>
                  <a:lnTo>
                    <a:pt x="9723" y="1373743"/>
                  </a:lnTo>
                  <a:cubicBezTo>
                    <a:pt x="7144" y="1373743"/>
                    <a:pt x="4671" y="1372718"/>
                    <a:pt x="2848" y="1370895"/>
                  </a:cubicBezTo>
                  <a:cubicBezTo>
                    <a:pt x="1024" y="1369072"/>
                    <a:pt x="0" y="1366599"/>
                    <a:pt x="0" y="1364020"/>
                  </a:cubicBezTo>
                  <a:lnTo>
                    <a:pt x="0" y="9723"/>
                  </a:lnTo>
                  <a:cubicBezTo>
                    <a:pt x="0" y="7144"/>
                    <a:pt x="1024" y="4671"/>
                    <a:pt x="2848" y="2848"/>
                  </a:cubicBezTo>
                  <a:cubicBezTo>
                    <a:pt x="4671" y="1024"/>
                    <a:pt x="7144" y="0"/>
                    <a:pt x="9723" y="0"/>
                  </a:cubicBezTo>
                  <a:close/>
                </a:path>
              </a:pathLst>
            </a:custGeom>
            <a:solidFill>
              <a:srgbClr val="F8F5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97211" cy="1421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6983" y="2997450"/>
            <a:ext cx="7962847" cy="1282087"/>
            <a:chOff x="0" y="0"/>
            <a:chExt cx="2097211" cy="3376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211" cy="337669"/>
            </a:xfrm>
            <a:custGeom>
              <a:avLst/>
              <a:gdLst/>
              <a:ahLst/>
              <a:cxnLst/>
              <a:rect r="r" b="b" t="t" l="l"/>
              <a:pathLst>
                <a:path h="337669" w="2097211">
                  <a:moveTo>
                    <a:pt x="9723" y="0"/>
                  </a:moveTo>
                  <a:lnTo>
                    <a:pt x="2087488" y="0"/>
                  </a:lnTo>
                  <a:cubicBezTo>
                    <a:pt x="2090067" y="0"/>
                    <a:pt x="2092540" y="1024"/>
                    <a:pt x="2094363" y="2848"/>
                  </a:cubicBezTo>
                  <a:cubicBezTo>
                    <a:pt x="2096186" y="4671"/>
                    <a:pt x="2097211" y="7144"/>
                    <a:pt x="2097211" y="9723"/>
                  </a:cubicBezTo>
                  <a:lnTo>
                    <a:pt x="2097211" y="327947"/>
                  </a:lnTo>
                  <a:cubicBezTo>
                    <a:pt x="2097211" y="330525"/>
                    <a:pt x="2096186" y="332998"/>
                    <a:pt x="2094363" y="334821"/>
                  </a:cubicBezTo>
                  <a:cubicBezTo>
                    <a:pt x="2092540" y="336645"/>
                    <a:pt x="2090067" y="337669"/>
                    <a:pt x="2087488" y="337669"/>
                  </a:cubicBezTo>
                  <a:lnTo>
                    <a:pt x="9723" y="337669"/>
                  </a:lnTo>
                  <a:cubicBezTo>
                    <a:pt x="7144" y="337669"/>
                    <a:pt x="4671" y="336645"/>
                    <a:pt x="2848" y="334821"/>
                  </a:cubicBezTo>
                  <a:cubicBezTo>
                    <a:pt x="1024" y="332998"/>
                    <a:pt x="0" y="330525"/>
                    <a:pt x="0" y="327947"/>
                  </a:cubicBezTo>
                  <a:lnTo>
                    <a:pt x="0" y="9723"/>
                  </a:lnTo>
                  <a:cubicBezTo>
                    <a:pt x="0" y="7144"/>
                    <a:pt x="1024" y="4671"/>
                    <a:pt x="2848" y="2848"/>
                  </a:cubicBezTo>
                  <a:cubicBezTo>
                    <a:pt x="4671" y="1024"/>
                    <a:pt x="7144" y="0"/>
                    <a:pt x="97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97211" cy="385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0713" y="5660618"/>
            <a:ext cx="8017287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Anode(+) ──────────►GPIO13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Cathode(-)──────────►  GND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10849" y="3256160"/>
            <a:ext cx="5898613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8"/>
              </a:lnSpc>
            </a:pPr>
            <a:r>
              <a:rPr lang="en-US" sz="4020" b="true">
                <a:solidFill>
                  <a:srgbClr val="221B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LED                    ESP32</a:t>
            </a:r>
            <a:r>
              <a:rPr lang="en-US" sz="402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1974" y="226764"/>
            <a:ext cx="14717489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8"/>
              </a:lnSpc>
            </a:pPr>
            <a:r>
              <a:rPr lang="en-US" sz="9289" spc="-92">
                <a:solidFill>
                  <a:srgbClr val="29191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ARCHITECTURE MATÉRIELLE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49562" y="1687761"/>
            <a:ext cx="436800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SCHÉMA DE CÂBLAGE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0764" y="2997450"/>
            <a:ext cx="8110718" cy="5760718"/>
            <a:chOff x="0" y="0"/>
            <a:chExt cx="1612724" cy="11454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12724" cy="1145453"/>
            </a:xfrm>
            <a:custGeom>
              <a:avLst/>
              <a:gdLst/>
              <a:ahLst/>
              <a:cxnLst/>
              <a:rect r="r" b="b" t="t" l="l"/>
              <a:pathLst>
                <a:path h="1145453" w="1612724">
                  <a:moveTo>
                    <a:pt x="9545" y="0"/>
                  </a:moveTo>
                  <a:lnTo>
                    <a:pt x="1603179" y="0"/>
                  </a:lnTo>
                  <a:cubicBezTo>
                    <a:pt x="1605710" y="0"/>
                    <a:pt x="1608138" y="1006"/>
                    <a:pt x="1609928" y="2796"/>
                  </a:cubicBezTo>
                  <a:cubicBezTo>
                    <a:pt x="1611718" y="4586"/>
                    <a:pt x="1612724" y="7014"/>
                    <a:pt x="1612724" y="9545"/>
                  </a:cubicBezTo>
                  <a:lnTo>
                    <a:pt x="1612724" y="1135908"/>
                  </a:lnTo>
                  <a:cubicBezTo>
                    <a:pt x="1612724" y="1138440"/>
                    <a:pt x="1611718" y="1140867"/>
                    <a:pt x="1609928" y="1142658"/>
                  </a:cubicBezTo>
                  <a:cubicBezTo>
                    <a:pt x="1608138" y="1144448"/>
                    <a:pt x="1605710" y="1145453"/>
                    <a:pt x="1603179" y="1145453"/>
                  </a:cubicBezTo>
                  <a:lnTo>
                    <a:pt x="9545" y="1145453"/>
                  </a:lnTo>
                  <a:cubicBezTo>
                    <a:pt x="7014" y="1145453"/>
                    <a:pt x="4586" y="1144448"/>
                    <a:pt x="2796" y="1142658"/>
                  </a:cubicBezTo>
                  <a:cubicBezTo>
                    <a:pt x="1006" y="1140867"/>
                    <a:pt x="0" y="1138440"/>
                    <a:pt x="0" y="1135908"/>
                  </a:cubicBezTo>
                  <a:lnTo>
                    <a:pt x="0" y="9545"/>
                  </a:lnTo>
                  <a:cubicBezTo>
                    <a:pt x="0" y="7014"/>
                    <a:pt x="1006" y="4586"/>
                    <a:pt x="2796" y="2796"/>
                  </a:cubicBezTo>
                  <a:cubicBezTo>
                    <a:pt x="4586" y="1006"/>
                    <a:pt x="7014" y="0"/>
                    <a:pt x="9545" y="0"/>
                  </a:cubicBezTo>
                  <a:close/>
                </a:path>
              </a:pathLst>
            </a:custGeom>
            <a:solidFill>
              <a:srgbClr val="F8F5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12724" cy="1183553"/>
            </a:xfrm>
            <a:prstGeom prst="rect">
              <a:avLst/>
            </a:prstGeom>
          </p:spPr>
          <p:txBody>
            <a:bodyPr anchor="ctr" rtlCol="false" tIns="67288" lIns="67288" bIns="67288" rIns="67288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0764" y="2997450"/>
            <a:ext cx="8110718" cy="1282087"/>
            <a:chOff x="0" y="0"/>
            <a:chExt cx="1612724" cy="254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12724" cy="254928"/>
            </a:xfrm>
            <a:custGeom>
              <a:avLst/>
              <a:gdLst/>
              <a:ahLst/>
              <a:cxnLst/>
              <a:rect r="r" b="b" t="t" l="l"/>
              <a:pathLst>
                <a:path h="254928" w="1612724">
                  <a:moveTo>
                    <a:pt x="0" y="0"/>
                  </a:moveTo>
                  <a:lnTo>
                    <a:pt x="1612724" y="0"/>
                  </a:lnTo>
                  <a:lnTo>
                    <a:pt x="1612724" y="254928"/>
                  </a:lnTo>
                  <a:lnTo>
                    <a:pt x="0" y="254928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12724" cy="293028"/>
            </a:xfrm>
            <a:prstGeom prst="rect">
              <a:avLst/>
            </a:prstGeom>
          </p:spPr>
          <p:txBody>
            <a:bodyPr anchor="ctr" rtlCol="false" tIns="67288" lIns="67288" bIns="67288" rIns="67288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7775" y="4958812"/>
            <a:ext cx="7812261" cy="292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VDD    ──────────►  3.3V</a:t>
            </a:r>
          </a:p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GND    ──────────►  GND</a:t>
            </a:r>
          </a:p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SCK     ──────────►  GPIO26 (BCLK) </a:t>
            </a:r>
          </a:p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WS      ──────────►  GPIO22 (LRCLK)</a:t>
            </a:r>
          </a:p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SD      ──────────►  GPIO21 (DOUT)</a:t>
            </a:r>
          </a:p>
          <a:p>
            <a:pPr algn="just">
              <a:lnSpc>
                <a:spcPts val="3894"/>
              </a:lnSpc>
            </a:pPr>
            <a:r>
              <a:rPr lang="en-US" sz="2781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L/R     ──────────►  GND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7775" y="3114192"/>
            <a:ext cx="5502804" cy="6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021" b="true">
                <a:solidFill>
                  <a:srgbClr val="221B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INMP441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8634" y="3114192"/>
            <a:ext cx="5502804" cy="6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021" b="true">
                <a:solidFill>
                  <a:srgbClr val="221B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</a:t>
            </a:r>
            <a:r>
              <a:rPr lang="en-US" sz="4021" b="true">
                <a:solidFill>
                  <a:srgbClr val="221B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ESP32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795" y="3866892"/>
            <a:ext cx="2163036" cy="2163036"/>
          </a:xfrm>
          <a:custGeom>
            <a:avLst/>
            <a:gdLst/>
            <a:ahLst/>
            <a:cxnLst/>
            <a:rect r="r" b="b" t="t" l="l"/>
            <a:pathLst>
              <a:path h="2163036" w="2163036">
                <a:moveTo>
                  <a:pt x="0" y="0"/>
                </a:moveTo>
                <a:lnTo>
                  <a:pt x="2163037" y="0"/>
                </a:lnTo>
                <a:lnTo>
                  <a:pt x="2163037" y="2163036"/>
                </a:lnTo>
                <a:lnTo>
                  <a:pt x="0" y="2163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99025" y="3900309"/>
            <a:ext cx="2163036" cy="2163036"/>
          </a:xfrm>
          <a:custGeom>
            <a:avLst/>
            <a:gdLst/>
            <a:ahLst/>
            <a:cxnLst/>
            <a:rect r="r" b="b" t="t" l="l"/>
            <a:pathLst>
              <a:path h="2163036" w="2163036">
                <a:moveTo>
                  <a:pt x="0" y="0"/>
                </a:moveTo>
                <a:lnTo>
                  <a:pt x="2163037" y="0"/>
                </a:lnTo>
                <a:lnTo>
                  <a:pt x="2163037" y="2163036"/>
                </a:lnTo>
                <a:lnTo>
                  <a:pt x="0" y="2163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91907" y="3878415"/>
            <a:ext cx="2163036" cy="2163036"/>
          </a:xfrm>
          <a:custGeom>
            <a:avLst/>
            <a:gdLst/>
            <a:ahLst/>
            <a:cxnLst/>
            <a:rect r="r" b="b" t="t" l="l"/>
            <a:pathLst>
              <a:path h="2163036" w="2163036">
                <a:moveTo>
                  <a:pt x="0" y="0"/>
                </a:moveTo>
                <a:lnTo>
                  <a:pt x="2163036" y="0"/>
                </a:lnTo>
                <a:lnTo>
                  <a:pt x="2163036" y="2163037"/>
                </a:lnTo>
                <a:lnTo>
                  <a:pt x="0" y="216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5512" y="6339087"/>
            <a:ext cx="3358335" cy="3698536"/>
          </a:xfrm>
          <a:custGeom>
            <a:avLst/>
            <a:gdLst/>
            <a:ahLst/>
            <a:cxnLst/>
            <a:rect r="r" b="b" t="t" l="l"/>
            <a:pathLst>
              <a:path h="3698536" w="3358335">
                <a:moveTo>
                  <a:pt x="0" y="0"/>
                </a:moveTo>
                <a:lnTo>
                  <a:pt x="3358335" y="0"/>
                </a:lnTo>
                <a:lnTo>
                  <a:pt x="3358335" y="3698537"/>
                </a:lnTo>
                <a:lnTo>
                  <a:pt x="0" y="3698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6270" y="7361896"/>
            <a:ext cx="11991617" cy="2675728"/>
            <a:chOff x="0" y="0"/>
            <a:chExt cx="15988822" cy="356763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5988822" cy="3567637"/>
              <a:chOff x="0" y="0"/>
              <a:chExt cx="4993991" cy="111432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93991" cy="1114325"/>
              </a:xfrm>
              <a:custGeom>
                <a:avLst/>
                <a:gdLst/>
                <a:ahLst/>
                <a:cxnLst/>
                <a:rect r="r" b="b" t="t" l="l"/>
                <a:pathLst>
                  <a:path h="1114325" w="4993991">
                    <a:moveTo>
                      <a:pt x="0" y="0"/>
                    </a:moveTo>
                    <a:lnTo>
                      <a:pt x="4993991" y="0"/>
                    </a:lnTo>
                    <a:lnTo>
                      <a:pt x="4993991" y="1114325"/>
                    </a:lnTo>
                    <a:lnTo>
                      <a:pt x="0" y="1114325"/>
                    </a:lnTo>
                    <a:close/>
                  </a:path>
                </a:pathLst>
              </a:custGeom>
              <a:solidFill>
                <a:srgbClr val="DFF0FE">
                  <a:alpha val="71765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"/>
                <a:ext cx="4993991" cy="1104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5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94039" y="485799"/>
              <a:ext cx="14894783" cy="2718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3"/>
                </a:lnSpc>
              </a:pPr>
              <a:r>
                <a:rPr lang="en-US" sz="2338">
                  <a:solidFill>
                    <a:srgbClr val="291915">
                      <a:alpha val="71765"/>
                    </a:srgbClr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Arduino IDE                            →                     Développement  </a:t>
              </a:r>
            </a:p>
            <a:p>
              <a:pPr algn="l">
                <a:lnSpc>
                  <a:spcPts val="3273"/>
                </a:lnSpc>
              </a:pPr>
              <a:r>
                <a:rPr lang="en-US" sz="2338">
                  <a:solidFill>
                    <a:srgbClr val="291915">
                      <a:alpha val="71765"/>
                    </a:srgbClr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Edge Impulse Studio          →                    Entraînement du modèle </a:t>
              </a:r>
            </a:p>
            <a:p>
              <a:pPr algn="l">
                <a:lnSpc>
                  <a:spcPts val="3273"/>
                </a:lnSpc>
              </a:pPr>
              <a:r>
                <a:rPr lang="en-US" sz="2338">
                  <a:solidFill>
                    <a:srgbClr val="291915">
                      <a:alpha val="71765"/>
                    </a:srgbClr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TensorFlow Lite Micro        →                    Inférence embarquée</a:t>
              </a:r>
            </a:p>
            <a:p>
              <a:pPr algn="l">
                <a:lnSpc>
                  <a:spcPts val="3273"/>
                </a:lnSpc>
              </a:pPr>
              <a:r>
                <a:rPr lang="en-US" sz="2338">
                  <a:solidFill>
                    <a:srgbClr val="291915">
                      <a:alpha val="71765"/>
                    </a:srgbClr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Protocole I2S                         →                    Lecture audio numérique</a:t>
              </a:r>
            </a:p>
            <a:p>
              <a:pPr algn="l">
                <a:lnSpc>
                  <a:spcPts val="3273"/>
                </a:lnSpc>
              </a:pPr>
              <a:r>
                <a:rPr lang="en-US" sz="2338">
                  <a:solidFill>
                    <a:srgbClr val="291915">
                      <a:alpha val="71765"/>
                    </a:srgbClr>
                  </a:solidFill>
                  <a:latin typeface="Be Vietnam"/>
                  <a:ea typeface="Be Vietnam"/>
                  <a:cs typeface="Be Vietnam"/>
                  <a:sym typeface="Be Vietnam"/>
                </a:rPr>
                <a:t>• MFCC (13 coefficients)     →                   Extraction de features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5807" y="3820466"/>
            <a:ext cx="2163036" cy="2163036"/>
          </a:xfrm>
          <a:custGeom>
            <a:avLst/>
            <a:gdLst/>
            <a:ahLst/>
            <a:cxnLst/>
            <a:rect r="r" b="b" t="t" l="l"/>
            <a:pathLst>
              <a:path h="2163036" w="2163036">
                <a:moveTo>
                  <a:pt x="0" y="0"/>
                </a:moveTo>
                <a:lnTo>
                  <a:pt x="2163036" y="0"/>
                </a:lnTo>
                <a:lnTo>
                  <a:pt x="2163036" y="2163037"/>
                </a:lnTo>
                <a:lnTo>
                  <a:pt x="0" y="216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3862062" y="4709085"/>
            <a:ext cx="1866900" cy="710727"/>
            <a:chOff x="0" y="0"/>
            <a:chExt cx="1401107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1107" cy="533400"/>
            </a:xfrm>
            <a:custGeom>
              <a:avLst/>
              <a:gdLst/>
              <a:ahLst/>
              <a:cxnLst/>
              <a:rect r="r" b="b" t="t" l="l"/>
              <a:pathLst>
                <a:path h="533400" w="1401107">
                  <a:moveTo>
                    <a:pt x="239386" y="166418"/>
                  </a:moveTo>
                  <a:lnTo>
                    <a:pt x="1401107" y="166418"/>
                  </a:lnTo>
                  <a:lnTo>
                    <a:pt x="1401107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0650" y="136525"/>
              <a:ext cx="1280457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32543" y="4830008"/>
            <a:ext cx="4972782" cy="28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3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I2S DMA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94596" y="4849496"/>
            <a:ext cx="1796092" cy="28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3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MFCC Extrac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0616" y="4875778"/>
            <a:ext cx="4972782" cy="28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3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Audio Brut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6318" y="2875124"/>
            <a:ext cx="5147080" cy="50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2990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FLUX DE TRAITEMENT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933450"/>
            <a:ext cx="14271637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29191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ARCHITECTURE LOGICIELLE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1885" y="4854907"/>
            <a:ext cx="1157316" cy="28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3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CNN Ifér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28962" y="3831245"/>
            <a:ext cx="5428790" cy="2163036"/>
            <a:chOff x="0" y="0"/>
            <a:chExt cx="7238387" cy="28840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84048" cy="2884048"/>
            </a:xfrm>
            <a:custGeom>
              <a:avLst/>
              <a:gdLst/>
              <a:ahLst/>
              <a:cxnLst/>
              <a:rect r="r" b="b" t="t" l="l"/>
              <a:pathLst>
                <a:path h="2884048" w="2884048">
                  <a:moveTo>
                    <a:pt x="0" y="0"/>
                  </a:moveTo>
                  <a:lnTo>
                    <a:pt x="2884048" y="0"/>
                  </a:lnTo>
                  <a:lnTo>
                    <a:pt x="2884048" y="2884048"/>
                  </a:lnTo>
                  <a:lnTo>
                    <a:pt x="0" y="28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608011" y="1240104"/>
              <a:ext cx="6630376" cy="375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8"/>
                </a:lnSpc>
              </a:pPr>
              <a:r>
                <a:rPr lang="en-US" sz="1763" b="true">
                  <a:solidFill>
                    <a:srgbClr val="291915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Action LED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8570" y="6815164"/>
            <a:ext cx="4972782" cy="28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1763" b="true">
                <a:solidFill>
                  <a:srgbClr val="29191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TECHNOLOGIES UTILISÉES : </a:t>
            </a:r>
          </a:p>
        </p:txBody>
      </p:sp>
      <p:grpSp>
        <p:nvGrpSpPr>
          <p:cNvPr name="Group 25" id="25"/>
          <p:cNvGrpSpPr/>
          <p:nvPr/>
        </p:nvGrpSpPr>
        <p:grpSpPr>
          <a:xfrm rot="-10800000">
            <a:off x="10021618" y="4805377"/>
            <a:ext cx="1613966" cy="614435"/>
            <a:chOff x="0" y="0"/>
            <a:chExt cx="1401107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1107" cy="533400"/>
            </a:xfrm>
            <a:custGeom>
              <a:avLst/>
              <a:gdLst/>
              <a:ahLst/>
              <a:cxnLst/>
              <a:rect r="r" b="b" t="t" l="l"/>
              <a:pathLst>
                <a:path h="533400" w="1401107">
                  <a:moveTo>
                    <a:pt x="239386" y="166418"/>
                  </a:moveTo>
                  <a:lnTo>
                    <a:pt x="1401107" y="166418"/>
                  </a:lnTo>
                  <a:lnTo>
                    <a:pt x="1401107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0650" y="136525"/>
              <a:ext cx="1280457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6287832" y="4748062"/>
            <a:ext cx="1504075" cy="572600"/>
            <a:chOff x="0" y="0"/>
            <a:chExt cx="1401107" cy="533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01107" cy="533400"/>
            </a:xfrm>
            <a:custGeom>
              <a:avLst/>
              <a:gdLst/>
              <a:ahLst/>
              <a:cxnLst/>
              <a:rect r="r" b="b" t="t" l="l"/>
              <a:pathLst>
                <a:path h="533400" w="1401107">
                  <a:moveTo>
                    <a:pt x="239386" y="166418"/>
                  </a:moveTo>
                  <a:lnTo>
                    <a:pt x="1401107" y="166418"/>
                  </a:lnTo>
                  <a:lnTo>
                    <a:pt x="1401107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0650" y="136525"/>
              <a:ext cx="1280457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2579782" y="4721780"/>
            <a:ext cx="1504075" cy="572600"/>
            <a:chOff x="0" y="0"/>
            <a:chExt cx="1401107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01107" cy="533400"/>
            </a:xfrm>
            <a:custGeom>
              <a:avLst/>
              <a:gdLst/>
              <a:ahLst/>
              <a:cxnLst/>
              <a:rect r="r" b="b" t="t" l="l"/>
              <a:pathLst>
                <a:path h="533400" w="1401107">
                  <a:moveTo>
                    <a:pt x="239386" y="166418"/>
                  </a:moveTo>
                  <a:lnTo>
                    <a:pt x="1401107" y="166418"/>
                  </a:lnTo>
                  <a:lnTo>
                    <a:pt x="1401107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0650" y="136525"/>
              <a:ext cx="1280457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8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4309" y="2086850"/>
            <a:ext cx="7983400" cy="5768944"/>
          </a:xfrm>
          <a:custGeom>
            <a:avLst/>
            <a:gdLst/>
            <a:ahLst/>
            <a:cxnLst/>
            <a:rect r="r" b="b" t="t" l="l"/>
            <a:pathLst>
              <a:path h="5768944" w="7983400">
                <a:moveTo>
                  <a:pt x="0" y="0"/>
                </a:moveTo>
                <a:lnTo>
                  <a:pt x="7983401" y="0"/>
                </a:lnTo>
                <a:lnTo>
                  <a:pt x="7983401" y="5768944"/>
                </a:lnTo>
                <a:lnTo>
                  <a:pt x="0" y="5768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917964" y="3658886"/>
          <a:ext cx="6229350" cy="3291840"/>
        </p:xfrm>
        <a:graphic>
          <a:graphicData uri="http://schemas.openxmlformats.org/presentationml/2006/ole">
            <p:oleObj imgW="7467600" imgH="4533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028700" y="2415208"/>
            <a:ext cx="854916" cy="854916"/>
          </a:xfrm>
          <a:custGeom>
            <a:avLst/>
            <a:gdLst/>
            <a:ahLst/>
            <a:cxnLst/>
            <a:rect r="r" b="b" t="t" l="l"/>
            <a:pathLst>
              <a:path h="854916" w="854916">
                <a:moveTo>
                  <a:pt x="0" y="0"/>
                </a:moveTo>
                <a:lnTo>
                  <a:pt x="854916" y="0"/>
                </a:lnTo>
                <a:lnTo>
                  <a:pt x="854916" y="854916"/>
                </a:lnTo>
                <a:lnTo>
                  <a:pt x="0" y="854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4309" y="8246319"/>
            <a:ext cx="7856891" cy="893620"/>
          </a:xfrm>
          <a:custGeom>
            <a:avLst/>
            <a:gdLst/>
            <a:ahLst/>
            <a:cxnLst/>
            <a:rect r="r" b="b" t="t" l="l"/>
            <a:pathLst>
              <a:path h="893620" w="7856891">
                <a:moveTo>
                  <a:pt x="0" y="0"/>
                </a:moveTo>
                <a:lnTo>
                  <a:pt x="7856891" y="0"/>
                </a:lnTo>
                <a:lnTo>
                  <a:pt x="7856891" y="893619"/>
                </a:lnTo>
                <a:lnTo>
                  <a:pt x="0" y="893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9597" y="2120739"/>
            <a:ext cx="7709703" cy="7216194"/>
          </a:xfrm>
          <a:custGeom>
            <a:avLst/>
            <a:gdLst/>
            <a:ahLst/>
            <a:cxnLst/>
            <a:rect r="r" b="b" t="t" l="l"/>
            <a:pathLst>
              <a:path h="7216194" w="7709703">
                <a:moveTo>
                  <a:pt x="0" y="0"/>
                </a:moveTo>
                <a:lnTo>
                  <a:pt x="7709703" y="0"/>
                </a:lnTo>
                <a:lnTo>
                  <a:pt x="7709703" y="7216193"/>
                </a:lnTo>
                <a:lnTo>
                  <a:pt x="0" y="7216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80505" y="2359451"/>
            <a:ext cx="966431" cy="966431"/>
          </a:xfrm>
          <a:custGeom>
            <a:avLst/>
            <a:gdLst/>
            <a:ahLst/>
            <a:cxnLst/>
            <a:rect r="r" b="b" t="t" l="l"/>
            <a:pathLst>
              <a:path h="966431" w="966431">
                <a:moveTo>
                  <a:pt x="0" y="0"/>
                </a:moveTo>
                <a:lnTo>
                  <a:pt x="966431" y="0"/>
                </a:lnTo>
                <a:lnTo>
                  <a:pt x="966431" y="966431"/>
                </a:lnTo>
                <a:lnTo>
                  <a:pt x="0" y="966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54268" y="3419533"/>
            <a:ext cx="6623107" cy="5604168"/>
          </a:xfrm>
          <a:custGeom>
            <a:avLst/>
            <a:gdLst/>
            <a:ahLst/>
            <a:cxnLst/>
            <a:rect r="r" b="b" t="t" l="l"/>
            <a:pathLst>
              <a:path h="5604168" w="6623107">
                <a:moveTo>
                  <a:pt x="0" y="0"/>
                </a:moveTo>
                <a:lnTo>
                  <a:pt x="6623108" y="0"/>
                </a:lnTo>
                <a:lnTo>
                  <a:pt x="6623108" y="5604168"/>
                </a:lnTo>
                <a:lnTo>
                  <a:pt x="0" y="56041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4309" y="226764"/>
            <a:ext cx="13810199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DATASET &amp; ENTRAÎNEMENT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4771" y="2645499"/>
            <a:ext cx="27502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Collecte des données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6926" y="8465394"/>
            <a:ext cx="5611773" cy="40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1"/>
              </a:lnSpc>
              <a:spcBef>
                <a:spcPct val="0"/>
              </a:spcBef>
            </a:pPr>
            <a:r>
              <a:rPr lang="en-US" sz="235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Split : 76% entraînement / 24% test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12457" y="2645499"/>
            <a:ext cx="526491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Paramètres du modèle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11093" y="2030606"/>
            <a:ext cx="4453106" cy="3217892"/>
          </a:xfrm>
          <a:custGeom>
            <a:avLst/>
            <a:gdLst/>
            <a:ahLst/>
            <a:cxnLst/>
            <a:rect r="r" b="b" t="t" l="l"/>
            <a:pathLst>
              <a:path h="3217892" w="4453106">
                <a:moveTo>
                  <a:pt x="0" y="0"/>
                </a:moveTo>
                <a:lnTo>
                  <a:pt x="4453106" y="0"/>
                </a:lnTo>
                <a:lnTo>
                  <a:pt x="4453106" y="3217891"/>
                </a:lnTo>
                <a:lnTo>
                  <a:pt x="0" y="3217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7499267" y="6901923"/>
          <a:ext cx="7543800" cy="2514600"/>
        </p:xfrm>
        <a:graphic>
          <a:graphicData uri="http://schemas.openxmlformats.org/presentationml/2006/ole">
            <p:oleObj imgW="9042400" imgH="4013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263713" y="1846451"/>
            <a:ext cx="670967" cy="662883"/>
          </a:xfrm>
          <a:custGeom>
            <a:avLst/>
            <a:gdLst/>
            <a:ahLst/>
            <a:cxnLst/>
            <a:rect r="r" b="b" t="t" l="l"/>
            <a:pathLst>
              <a:path h="662883" w="670967">
                <a:moveTo>
                  <a:pt x="0" y="0"/>
                </a:moveTo>
                <a:lnTo>
                  <a:pt x="670967" y="0"/>
                </a:lnTo>
                <a:lnTo>
                  <a:pt x="670967" y="662884"/>
                </a:lnTo>
                <a:lnTo>
                  <a:pt x="0" y="662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4263729" y="2049011"/>
            <a:ext cx="4453106" cy="3217892"/>
          </a:xfrm>
          <a:custGeom>
            <a:avLst/>
            <a:gdLst/>
            <a:ahLst/>
            <a:cxnLst/>
            <a:rect r="r" b="b" t="t" l="l"/>
            <a:pathLst>
              <a:path h="3217892" w="4453106">
                <a:moveTo>
                  <a:pt x="0" y="0"/>
                </a:moveTo>
                <a:lnTo>
                  <a:pt x="4453106" y="0"/>
                </a:lnTo>
                <a:lnTo>
                  <a:pt x="4453106" y="3217891"/>
                </a:lnTo>
                <a:lnTo>
                  <a:pt x="0" y="3217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40979" y="1859815"/>
            <a:ext cx="670967" cy="662883"/>
          </a:xfrm>
          <a:custGeom>
            <a:avLst/>
            <a:gdLst/>
            <a:ahLst/>
            <a:cxnLst/>
            <a:rect r="r" b="b" t="t" l="l"/>
            <a:pathLst>
              <a:path h="662883" w="670967">
                <a:moveTo>
                  <a:pt x="0" y="0"/>
                </a:moveTo>
                <a:lnTo>
                  <a:pt x="670967" y="0"/>
                </a:lnTo>
                <a:lnTo>
                  <a:pt x="670967" y="662883"/>
                </a:lnTo>
                <a:lnTo>
                  <a:pt x="0" y="662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5219" y="1412999"/>
            <a:ext cx="6690096" cy="4465639"/>
          </a:xfrm>
          <a:custGeom>
            <a:avLst/>
            <a:gdLst/>
            <a:ahLst/>
            <a:cxnLst/>
            <a:rect r="r" b="b" t="t" l="l"/>
            <a:pathLst>
              <a:path h="4465639" w="6690096">
                <a:moveTo>
                  <a:pt x="0" y="0"/>
                </a:moveTo>
                <a:lnTo>
                  <a:pt x="6690096" y="0"/>
                </a:lnTo>
                <a:lnTo>
                  <a:pt x="6690096" y="4465639"/>
                </a:lnTo>
                <a:lnTo>
                  <a:pt x="0" y="4465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4309" y="226764"/>
            <a:ext cx="14810371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</a:t>
            </a: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ERFORMANCES DU MODÈLE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2292" y="2856718"/>
            <a:ext cx="1195983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Accuracy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43153" y="6346350"/>
            <a:ext cx="366879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Matrice de confusion - Test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9366" y="1745181"/>
            <a:ext cx="173781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Métriques -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32973" y="3489394"/>
            <a:ext cx="604123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Loss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44749" y="4121126"/>
            <a:ext cx="592336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AUC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8984" y="4723320"/>
            <a:ext cx="1008102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F1 score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50832" y="2870359"/>
            <a:ext cx="642223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95.1%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60906" y="3503036"/>
            <a:ext cx="422077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0.18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52809" y="4134768"/>
            <a:ext cx="438269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0.99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51321" y="4766499"/>
            <a:ext cx="441246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0.95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74929" y="2875123"/>
            <a:ext cx="1195983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Accuracy :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30029" y="1794988"/>
            <a:ext cx="190263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Métriques - Test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88752" y="3509120"/>
            <a:ext cx="592336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AUC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72987" y="4111314"/>
            <a:ext cx="1008102" cy="29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b="true" sz="1776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F1 score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9353" y="2888765"/>
            <a:ext cx="770453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92.74%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96812" y="3522762"/>
            <a:ext cx="438269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0.99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95324" y="4154494"/>
            <a:ext cx="441246" cy="28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0.95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4681" y="6194903"/>
            <a:ext cx="4648307" cy="4065744"/>
            <a:chOff x="0" y="0"/>
            <a:chExt cx="6197742" cy="54209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91729" cy="5420992"/>
            </a:xfrm>
            <a:custGeom>
              <a:avLst/>
              <a:gdLst/>
              <a:ahLst/>
              <a:cxnLst/>
              <a:rect r="r" b="b" t="t" l="l"/>
              <a:pathLst>
                <a:path h="5420992" w="5791729">
                  <a:moveTo>
                    <a:pt x="0" y="0"/>
                  </a:moveTo>
                  <a:lnTo>
                    <a:pt x="5791729" y="0"/>
                  </a:lnTo>
                  <a:lnTo>
                    <a:pt x="5791729" y="5420992"/>
                  </a:lnTo>
                  <a:lnTo>
                    <a:pt x="0" y="5420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84615" y="343588"/>
              <a:ext cx="876362" cy="876362"/>
            </a:xfrm>
            <a:custGeom>
              <a:avLst/>
              <a:gdLst/>
              <a:ahLst/>
              <a:cxnLst/>
              <a:rect r="r" b="b" t="t" l="l"/>
              <a:pathLst>
                <a:path h="876362" w="876362">
                  <a:moveTo>
                    <a:pt x="0" y="0"/>
                  </a:moveTo>
                  <a:lnTo>
                    <a:pt x="876362" y="0"/>
                  </a:lnTo>
                  <a:lnTo>
                    <a:pt x="876362" y="876362"/>
                  </a:lnTo>
                  <a:lnTo>
                    <a:pt x="0" y="876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839440" y="1268054"/>
              <a:ext cx="3002425" cy="1210068"/>
            </a:xfrm>
            <a:custGeom>
              <a:avLst/>
              <a:gdLst/>
              <a:ahLst/>
              <a:cxnLst/>
              <a:rect r="r" b="b" t="t" l="l"/>
              <a:pathLst>
                <a:path h="1210068" w="3002425">
                  <a:moveTo>
                    <a:pt x="0" y="0"/>
                  </a:moveTo>
                  <a:lnTo>
                    <a:pt x="3002425" y="0"/>
                  </a:lnTo>
                  <a:lnTo>
                    <a:pt x="3002425" y="1210068"/>
                  </a:lnTo>
                  <a:lnTo>
                    <a:pt x="0" y="1210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992183" y="4112405"/>
              <a:ext cx="2763669" cy="285768"/>
            </a:xfrm>
            <a:custGeom>
              <a:avLst/>
              <a:gdLst/>
              <a:ahLst/>
              <a:cxnLst/>
              <a:rect r="r" b="b" t="t" l="l"/>
              <a:pathLst>
                <a:path h="285768" w="2763669">
                  <a:moveTo>
                    <a:pt x="0" y="0"/>
                  </a:moveTo>
                  <a:lnTo>
                    <a:pt x="2763669" y="0"/>
                  </a:lnTo>
                  <a:lnTo>
                    <a:pt x="2763669" y="285768"/>
                  </a:lnTo>
                  <a:lnTo>
                    <a:pt x="0" y="285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37" r="0" b="-1237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953444" y="4112405"/>
              <a:ext cx="613715" cy="285716"/>
              <a:chOff x="0" y="0"/>
              <a:chExt cx="215181" cy="10020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15181" cy="100203"/>
              </a:xfrm>
              <a:custGeom>
                <a:avLst/>
                <a:gdLst/>
                <a:ahLst/>
                <a:cxnLst/>
                <a:rect r="r" b="b" t="t" l="l"/>
                <a:pathLst>
                  <a:path h="100203" w="215181">
                    <a:moveTo>
                      <a:pt x="215181" y="50101"/>
                    </a:moveTo>
                    <a:lnTo>
                      <a:pt x="215181" y="50101"/>
                    </a:lnTo>
                    <a:cubicBezTo>
                      <a:pt x="215181" y="63389"/>
                      <a:pt x="209902" y="76133"/>
                      <a:pt x="200506" y="85529"/>
                    </a:cubicBezTo>
                    <a:cubicBezTo>
                      <a:pt x="191110" y="94924"/>
                      <a:pt x="178367" y="100203"/>
                      <a:pt x="165079" y="100203"/>
                    </a:cubicBezTo>
                    <a:lnTo>
                      <a:pt x="50101" y="100203"/>
                    </a:lnTo>
                    <a:cubicBezTo>
                      <a:pt x="36814" y="100203"/>
                      <a:pt x="24070" y="94924"/>
                      <a:pt x="14674" y="85529"/>
                    </a:cubicBezTo>
                    <a:cubicBezTo>
                      <a:pt x="5279" y="76133"/>
                      <a:pt x="0" y="63389"/>
                      <a:pt x="0" y="50101"/>
                    </a:cubicBezTo>
                    <a:lnTo>
                      <a:pt x="0" y="50101"/>
                    </a:lnTo>
                    <a:cubicBezTo>
                      <a:pt x="0" y="36814"/>
                      <a:pt x="5279" y="24070"/>
                      <a:pt x="14674" y="14674"/>
                    </a:cubicBezTo>
                    <a:cubicBezTo>
                      <a:pt x="24070" y="5279"/>
                      <a:pt x="36814" y="0"/>
                      <a:pt x="50101" y="0"/>
                    </a:cubicBezTo>
                    <a:lnTo>
                      <a:pt x="165079" y="0"/>
                    </a:lnTo>
                    <a:cubicBezTo>
                      <a:pt x="178367" y="0"/>
                      <a:pt x="191110" y="5279"/>
                      <a:pt x="200506" y="14674"/>
                    </a:cubicBezTo>
                    <a:cubicBezTo>
                      <a:pt x="209902" y="24070"/>
                      <a:pt x="215181" y="36814"/>
                      <a:pt x="215181" y="50101"/>
                    </a:cubicBezTo>
                    <a:close/>
                  </a:path>
                </a:pathLst>
              </a:custGeom>
              <a:solidFill>
                <a:srgbClr val="00CEE6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215181" cy="128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715225" y="3676407"/>
              <a:ext cx="141677" cy="138815"/>
              <a:chOff x="0" y="0"/>
              <a:chExt cx="251460" cy="24638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50604" y="50749"/>
                <a:ext cx="148786" cy="147474"/>
              </a:xfrm>
              <a:custGeom>
                <a:avLst/>
                <a:gdLst/>
                <a:ahLst/>
                <a:cxnLst/>
                <a:rect r="r" b="b" t="t" l="l"/>
                <a:pathLst>
                  <a:path h="147474" w="148786">
                    <a:moveTo>
                      <a:pt x="148786" y="52121"/>
                    </a:moveTo>
                    <a:cubicBezTo>
                      <a:pt x="128466" y="133401"/>
                      <a:pt x="119576" y="141021"/>
                      <a:pt x="106876" y="144831"/>
                    </a:cubicBezTo>
                    <a:cubicBezTo>
                      <a:pt x="89096" y="149911"/>
                      <a:pt x="53536" y="147371"/>
                      <a:pt x="35756" y="139751"/>
                    </a:cubicBezTo>
                    <a:cubicBezTo>
                      <a:pt x="24326" y="134671"/>
                      <a:pt x="16706" y="124511"/>
                      <a:pt x="10356" y="114351"/>
                    </a:cubicBezTo>
                    <a:cubicBezTo>
                      <a:pt x="4006" y="104191"/>
                      <a:pt x="-1074" y="92761"/>
                      <a:pt x="196" y="80061"/>
                    </a:cubicBezTo>
                    <a:cubicBezTo>
                      <a:pt x="196" y="61011"/>
                      <a:pt x="15436" y="27991"/>
                      <a:pt x="28136" y="15291"/>
                    </a:cubicBezTo>
                    <a:cubicBezTo>
                      <a:pt x="38296" y="5131"/>
                      <a:pt x="48456" y="1321"/>
                      <a:pt x="62426" y="51"/>
                    </a:cubicBezTo>
                    <a:cubicBezTo>
                      <a:pt x="80206" y="-1219"/>
                      <a:pt x="129736" y="21641"/>
                      <a:pt x="129736" y="21641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896257" y="4005557"/>
              <a:ext cx="175308" cy="146686"/>
              <a:chOff x="0" y="0"/>
              <a:chExt cx="311150" cy="26035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50159" y="50498"/>
                <a:ext cx="209364" cy="159930"/>
              </a:xfrm>
              <a:custGeom>
                <a:avLst/>
                <a:gdLst/>
                <a:ahLst/>
                <a:cxnLst/>
                <a:rect r="r" b="b" t="t" l="l"/>
                <a:pathLst>
                  <a:path h="159930" w="209364">
                    <a:moveTo>
                      <a:pt x="93351" y="2842"/>
                    </a:moveTo>
                    <a:cubicBezTo>
                      <a:pt x="161931" y="5382"/>
                      <a:pt x="173361" y="9192"/>
                      <a:pt x="182251" y="18082"/>
                    </a:cubicBezTo>
                    <a:cubicBezTo>
                      <a:pt x="194951" y="32052"/>
                      <a:pt x="211461" y="63802"/>
                      <a:pt x="208921" y="85392"/>
                    </a:cubicBezTo>
                    <a:cubicBezTo>
                      <a:pt x="206381" y="106982"/>
                      <a:pt x="186061" y="134922"/>
                      <a:pt x="169551" y="145082"/>
                    </a:cubicBezTo>
                    <a:cubicBezTo>
                      <a:pt x="154311" y="155242"/>
                      <a:pt x="130181" y="161592"/>
                      <a:pt x="114941" y="152702"/>
                    </a:cubicBezTo>
                    <a:cubicBezTo>
                      <a:pt x="90811" y="140002"/>
                      <a:pt x="57791" y="67612"/>
                      <a:pt x="62871" y="42212"/>
                    </a:cubicBezTo>
                    <a:cubicBezTo>
                      <a:pt x="65411" y="26972"/>
                      <a:pt x="83191" y="14272"/>
                      <a:pt x="97161" y="7922"/>
                    </a:cubicBezTo>
                    <a:cubicBezTo>
                      <a:pt x="111131" y="1572"/>
                      <a:pt x="131451" y="-968"/>
                      <a:pt x="146691" y="1572"/>
                    </a:cubicBezTo>
                    <a:cubicBezTo>
                      <a:pt x="161931" y="4112"/>
                      <a:pt x="179711" y="13002"/>
                      <a:pt x="189871" y="25702"/>
                    </a:cubicBezTo>
                    <a:cubicBezTo>
                      <a:pt x="201301" y="42212"/>
                      <a:pt x="211461" y="76502"/>
                      <a:pt x="206381" y="96822"/>
                    </a:cubicBezTo>
                    <a:cubicBezTo>
                      <a:pt x="201301" y="117142"/>
                      <a:pt x="178441" y="142542"/>
                      <a:pt x="158121" y="150162"/>
                    </a:cubicBezTo>
                    <a:cubicBezTo>
                      <a:pt x="137801" y="157782"/>
                      <a:pt x="103511" y="152702"/>
                      <a:pt x="85731" y="140002"/>
                    </a:cubicBezTo>
                    <a:cubicBezTo>
                      <a:pt x="69221" y="127302"/>
                      <a:pt x="53981" y="96822"/>
                      <a:pt x="53981" y="75232"/>
                    </a:cubicBezTo>
                    <a:cubicBezTo>
                      <a:pt x="55251" y="53642"/>
                      <a:pt x="74301" y="24432"/>
                      <a:pt x="90811" y="11732"/>
                    </a:cubicBezTo>
                    <a:cubicBezTo>
                      <a:pt x="103511" y="1572"/>
                      <a:pt x="122561" y="-968"/>
                      <a:pt x="137801" y="302"/>
                    </a:cubicBezTo>
                    <a:cubicBezTo>
                      <a:pt x="154311" y="1572"/>
                      <a:pt x="172091" y="7922"/>
                      <a:pt x="183521" y="20622"/>
                    </a:cubicBezTo>
                    <a:cubicBezTo>
                      <a:pt x="197491" y="34592"/>
                      <a:pt x="211461" y="86662"/>
                      <a:pt x="208921" y="87932"/>
                    </a:cubicBezTo>
                    <a:cubicBezTo>
                      <a:pt x="205111" y="90472"/>
                      <a:pt x="145421" y="6652"/>
                      <a:pt x="149231" y="1572"/>
                    </a:cubicBezTo>
                    <a:cubicBezTo>
                      <a:pt x="150501" y="302"/>
                      <a:pt x="160661" y="4112"/>
                      <a:pt x="167011" y="7922"/>
                    </a:cubicBezTo>
                    <a:cubicBezTo>
                      <a:pt x="174631" y="13002"/>
                      <a:pt x="187331" y="21892"/>
                      <a:pt x="194951" y="32052"/>
                    </a:cubicBezTo>
                    <a:cubicBezTo>
                      <a:pt x="202571" y="46022"/>
                      <a:pt x="211461" y="67612"/>
                      <a:pt x="208921" y="85392"/>
                    </a:cubicBezTo>
                    <a:cubicBezTo>
                      <a:pt x="205111" y="105712"/>
                      <a:pt x="188601" y="133652"/>
                      <a:pt x="169551" y="145082"/>
                    </a:cubicBezTo>
                    <a:cubicBezTo>
                      <a:pt x="146691" y="159052"/>
                      <a:pt x="107321" y="162862"/>
                      <a:pt x="80651" y="157782"/>
                    </a:cubicBezTo>
                    <a:cubicBezTo>
                      <a:pt x="56521" y="153972"/>
                      <a:pt x="27311" y="138732"/>
                      <a:pt x="14611" y="122222"/>
                    </a:cubicBezTo>
                    <a:cubicBezTo>
                      <a:pt x="3181" y="108252"/>
                      <a:pt x="-1899" y="86662"/>
                      <a:pt x="641" y="70152"/>
                    </a:cubicBezTo>
                    <a:cubicBezTo>
                      <a:pt x="1911" y="52372"/>
                      <a:pt x="10801" y="32052"/>
                      <a:pt x="24771" y="20622"/>
                    </a:cubicBezTo>
                    <a:cubicBezTo>
                      <a:pt x="40011" y="7922"/>
                      <a:pt x="93351" y="2842"/>
                      <a:pt x="93351" y="2842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650110" y="3793756"/>
              <a:ext cx="83719" cy="81572"/>
              <a:chOff x="0" y="0"/>
              <a:chExt cx="148590" cy="14478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49280" y="49054"/>
                <a:ext cx="47240" cy="40785"/>
              </a:xfrm>
              <a:custGeom>
                <a:avLst/>
                <a:gdLst/>
                <a:ahLst/>
                <a:cxnLst/>
                <a:rect r="r" b="b" t="t" l="l"/>
                <a:pathLst>
                  <a:path h="40785" w="47240">
                    <a:moveTo>
                      <a:pt x="47240" y="14446"/>
                    </a:moveTo>
                    <a:cubicBezTo>
                      <a:pt x="25650" y="48736"/>
                      <a:pt x="5330" y="42386"/>
                      <a:pt x="1520" y="34766"/>
                    </a:cubicBezTo>
                    <a:cubicBezTo>
                      <a:pt x="-2290" y="28416"/>
                      <a:pt x="1520" y="6826"/>
                      <a:pt x="7870" y="1746"/>
                    </a:cubicBezTo>
                    <a:cubicBezTo>
                      <a:pt x="14220" y="-3334"/>
                      <a:pt x="40890" y="4286"/>
                      <a:pt x="40890" y="4286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2038544" y="3427968"/>
              <a:ext cx="2604217" cy="577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8"/>
                </a:lnSpc>
                <a:spcBef>
                  <a:spcPct val="0"/>
                </a:spcBef>
              </a:pPr>
              <a:r>
                <a:rPr lang="en-US" b="true" sz="2591">
                  <a:solidFill>
                    <a:srgbClr val="00CEE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17.5%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602134" y="579212"/>
              <a:ext cx="391996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mpreinte mémoire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06013" y="2708924"/>
              <a:ext cx="5791729" cy="258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6"/>
                </a:lnSpc>
                <a:spcBef>
                  <a:spcPct val="0"/>
                </a:spcBef>
              </a:pPr>
              <a:r>
                <a:rPr lang="en-US" b="true" sz="1183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401 KB / 1.3 MB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06013" y="4615252"/>
              <a:ext cx="5791729" cy="258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0"/>
                </a:lnSpc>
                <a:spcBef>
                  <a:spcPct val="0"/>
                </a:spcBef>
              </a:pPr>
              <a:r>
                <a:rPr lang="en-US" b="true" sz="1193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57 KB / 320 KB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699976" y="2151791"/>
              <a:ext cx="1156926" cy="352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9"/>
                </a:lnSpc>
                <a:spcBef>
                  <a:spcPct val="0"/>
                </a:spcBef>
              </a:pPr>
              <a:r>
                <a:rPr lang="en-US" sz="158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Flash :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682514" y="4074305"/>
              <a:ext cx="1156926" cy="352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9"/>
                </a:lnSpc>
                <a:spcBef>
                  <a:spcPct val="0"/>
                </a:spcBef>
              </a:pPr>
              <a:r>
                <a:rPr lang="en-US" sz="158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RAM 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309" y="226764"/>
            <a:ext cx="9067433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DÉMONSTRATION                             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81055" y="2010683"/>
            <a:ext cx="532232" cy="532232"/>
          </a:xfrm>
          <a:custGeom>
            <a:avLst/>
            <a:gdLst/>
            <a:ahLst/>
            <a:cxnLst/>
            <a:rect r="r" b="b" t="t" l="l"/>
            <a:pathLst>
              <a:path h="532232" w="532232">
                <a:moveTo>
                  <a:pt x="0" y="0"/>
                </a:moveTo>
                <a:lnTo>
                  <a:pt x="532232" y="0"/>
                </a:lnTo>
                <a:lnTo>
                  <a:pt x="532232" y="532232"/>
                </a:lnTo>
                <a:lnTo>
                  <a:pt x="0" y="532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676714"/>
            <a:ext cx="5088989" cy="188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1. </a:t>
            </a: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Système en attente (LED éteinte)</a:t>
            </a:r>
          </a:p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2. Utilisateur dit "ON"</a:t>
            </a:r>
          </a:p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3. → LED s'allume </a:t>
            </a:r>
          </a:p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4. Utilisateur dit "OFF" </a:t>
            </a:r>
          </a:p>
          <a:p>
            <a:pPr algn="l">
              <a:lnSpc>
                <a:spcPts val="2993"/>
              </a:lnSpc>
              <a:spcBef>
                <a:spcPct val="0"/>
              </a:spcBef>
            </a:pPr>
            <a:r>
              <a:rPr lang="en-US" sz="213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5. → LED s'éteint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212" y="2086067"/>
            <a:ext cx="2599015" cy="35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  <a:spcBef>
                <a:spcPct val="0"/>
              </a:spcBef>
            </a:pPr>
            <a:r>
              <a:rPr lang="en-US" b="true" sz="2104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</a:t>
            </a:r>
            <a:r>
              <a:rPr lang="en-US" b="true" sz="2104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CÉNARIO DE TEST :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063228" y="3917054"/>
            <a:ext cx="6805580" cy="6369946"/>
            <a:chOff x="0" y="0"/>
            <a:chExt cx="9074107" cy="8493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74107" cy="8493261"/>
            </a:xfrm>
            <a:custGeom>
              <a:avLst/>
              <a:gdLst/>
              <a:ahLst/>
              <a:cxnLst/>
              <a:rect r="r" b="b" t="t" l="l"/>
              <a:pathLst>
                <a:path h="8493261" w="9074107">
                  <a:moveTo>
                    <a:pt x="0" y="0"/>
                  </a:moveTo>
                  <a:lnTo>
                    <a:pt x="9074107" y="0"/>
                  </a:lnTo>
                  <a:lnTo>
                    <a:pt x="9074107" y="8493261"/>
                  </a:lnTo>
                  <a:lnTo>
                    <a:pt x="0" y="849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43188" y="1342892"/>
              <a:ext cx="6492198" cy="6741259"/>
            </a:xfrm>
            <a:custGeom>
              <a:avLst/>
              <a:gdLst/>
              <a:ahLst/>
              <a:cxnLst/>
              <a:rect r="r" b="b" t="t" l="l"/>
              <a:pathLst>
                <a:path h="6741259" w="6492198">
                  <a:moveTo>
                    <a:pt x="0" y="0"/>
                  </a:moveTo>
                  <a:lnTo>
                    <a:pt x="6492198" y="0"/>
                  </a:lnTo>
                  <a:lnTo>
                    <a:pt x="6492198" y="6741259"/>
                  </a:lnTo>
                  <a:lnTo>
                    <a:pt x="0" y="674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2" t="-13197" r="-126553" b="-98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438722" y="480700"/>
              <a:ext cx="6196664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CA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PTURE MONITEUR SÉRIE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55149" y="322014"/>
            <a:ext cx="6805580" cy="6369946"/>
            <a:chOff x="0" y="0"/>
            <a:chExt cx="9074107" cy="8493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74107" cy="8493261"/>
            </a:xfrm>
            <a:custGeom>
              <a:avLst/>
              <a:gdLst/>
              <a:ahLst/>
              <a:cxnLst/>
              <a:rect r="r" b="b" t="t" l="l"/>
              <a:pathLst>
                <a:path h="8493261" w="9074107">
                  <a:moveTo>
                    <a:pt x="0" y="0"/>
                  </a:moveTo>
                  <a:lnTo>
                    <a:pt x="9074107" y="0"/>
                  </a:lnTo>
                  <a:lnTo>
                    <a:pt x="9074107" y="8493261"/>
                  </a:lnTo>
                  <a:lnTo>
                    <a:pt x="0" y="849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3078" y="1342892"/>
              <a:ext cx="8307952" cy="6659168"/>
            </a:xfrm>
            <a:custGeom>
              <a:avLst/>
              <a:gdLst/>
              <a:ahLst/>
              <a:cxnLst/>
              <a:rect r="r" b="b" t="t" l="l"/>
              <a:pathLst>
                <a:path h="6659168" w="8307952">
                  <a:moveTo>
                    <a:pt x="0" y="0"/>
                  </a:moveTo>
                  <a:lnTo>
                    <a:pt x="8307952" y="0"/>
                  </a:lnTo>
                  <a:lnTo>
                    <a:pt x="8307952" y="6659167"/>
                  </a:lnTo>
                  <a:lnTo>
                    <a:pt x="0" y="6659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981" t="-12193" r="-53391" b="-150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438722" y="480700"/>
              <a:ext cx="6196664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CA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PTURE ENVOI MQTT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882" t="0" r="6826" b="8394"/>
          <a:stretch>
            <a:fillRect/>
          </a:stretch>
        </p:blipFill>
        <p:spPr>
          <a:xfrm flipH="false" flipV="false" rot="-5400000">
            <a:off x="4932843" y="-1650996"/>
            <a:ext cx="8422314" cy="1519507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309" y="226764"/>
            <a:ext cx="9067433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DÉMONSTRATION                             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347" y="6021513"/>
            <a:ext cx="18404694" cy="4412524"/>
            <a:chOff x="0" y="0"/>
            <a:chExt cx="4847327" cy="1162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7327" cy="1162146"/>
            </a:xfrm>
            <a:custGeom>
              <a:avLst/>
              <a:gdLst/>
              <a:ahLst/>
              <a:cxnLst/>
              <a:rect r="r" b="b" t="t" l="l"/>
              <a:pathLst>
                <a:path h="1162146" w="4847327">
                  <a:moveTo>
                    <a:pt x="0" y="0"/>
                  </a:moveTo>
                  <a:lnTo>
                    <a:pt x="4847327" y="0"/>
                  </a:lnTo>
                  <a:lnTo>
                    <a:pt x="4847327" y="1162146"/>
                  </a:lnTo>
                  <a:lnTo>
                    <a:pt x="0" y="1162146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47327" cy="11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309" y="226764"/>
            <a:ext cx="13810199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AMÉLIORATION</a:t>
            </a:r>
            <a:r>
              <a:rPr lang="en-US" sz="9289" spc="-92">
                <a:solidFill>
                  <a:srgbClr val="0097B2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 POSSIBLES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4309" y="2086850"/>
            <a:ext cx="6633306" cy="4793342"/>
            <a:chOff x="0" y="0"/>
            <a:chExt cx="8844408" cy="63911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44408" cy="6391123"/>
            </a:xfrm>
            <a:custGeom>
              <a:avLst/>
              <a:gdLst/>
              <a:ahLst/>
              <a:cxnLst/>
              <a:rect r="r" b="b" t="t" l="l"/>
              <a:pathLst>
                <a:path h="6391123" w="8844408">
                  <a:moveTo>
                    <a:pt x="0" y="0"/>
                  </a:moveTo>
                  <a:lnTo>
                    <a:pt x="8844408" y="0"/>
                  </a:lnTo>
                  <a:lnTo>
                    <a:pt x="8844408" y="6391123"/>
                  </a:lnTo>
                  <a:lnTo>
                    <a:pt x="0" y="6391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570854" y="757565"/>
              <a:ext cx="4993005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un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projet domotique complet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36175" y="2427553"/>
              <a:ext cx="6627684" cy="2202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B</a:t>
              </a: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lynk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PWM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Synthèse vocale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Mode veille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936175" y="361103"/>
              <a:ext cx="1288575" cy="1288575"/>
            </a:xfrm>
            <a:custGeom>
              <a:avLst/>
              <a:gdLst/>
              <a:ahLst/>
              <a:cxnLst/>
              <a:rect r="r" b="b" t="t" l="l"/>
              <a:pathLst>
                <a:path h="1288575" w="1288575">
                  <a:moveTo>
                    <a:pt x="0" y="0"/>
                  </a:moveTo>
                  <a:lnTo>
                    <a:pt x="1288575" y="0"/>
                  </a:lnTo>
                  <a:lnTo>
                    <a:pt x="1288575" y="1288575"/>
                  </a:lnTo>
                  <a:lnTo>
                    <a:pt x="0" y="128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27855" y="2086850"/>
            <a:ext cx="6633306" cy="4374242"/>
            <a:chOff x="0" y="0"/>
            <a:chExt cx="8844408" cy="58323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44408" cy="5832323"/>
            </a:xfrm>
            <a:custGeom>
              <a:avLst/>
              <a:gdLst/>
              <a:ahLst/>
              <a:cxnLst/>
              <a:rect r="r" b="b" t="t" l="l"/>
              <a:pathLst>
                <a:path h="5832323" w="8844408">
                  <a:moveTo>
                    <a:pt x="0" y="0"/>
                  </a:moveTo>
                  <a:lnTo>
                    <a:pt x="8844408" y="0"/>
                  </a:lnTo>
                  <a:lnTo>
                    <a:pt x="8844408" y="5832323"/>
                  </a:lnTo>
                  <a:lnTo>
                    <a:pt x="0" y="583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790" r="0" b="-4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570854" y="757565"/>
              <a:ext cx="4993005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un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projet d'assistance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36175" y="2427553"/>
              <a:ext cx="6627684" cy="1644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1"/>
                </a:lnSpc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OLED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Reconnaissance utilisateur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Seuil dynamique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936175" y="361103"/>
              <a:ext cx="1288575" cy="1288575"/>
            </a:xfrm>
            <a:custGeom>
              <a:avLst/>
              <a:gdLst/>
              <a:ahLst/>
              <a:cxnLst/>
              <a:rect r="r" b="b" t="t" l="l"/>
              <a:pathLst>
                <a:path h="1288575" w="1288575">
                  <a:moveTo>
                    <a:pt x="0" y="0"/>
                  </a:moveTo>
                  <a:lnTo>
                    <a:pt x="1288575" y="0"/>
                  </a:lnTo>
                  <a:lnTo>
                    <a:pt x="1288575" y="1288575"/>
                  </a:lnTo>
                  <a:lnTo>
                    <a:pt x="0" y="128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35009" y="5640695"/>
            <a:ext cx="6633306" cy="4374242"/>
            <a:chOff x="0" y="0"/>
            <a:chExt cx="8844408" cy="58323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44408" cy="5832323"/>
            </a:xfrm>
            <a:custGeom>
              <a:avLst/>
              <a:gdLst/>
              <a:ahLst/>
              <a:cxnLst/>
              <a:rect r="r" b="b" t="t" l="l"/>
              <a:pathLst>
                <a:path h="5832323" w="8844408">
                  <a:moveTo>
                    <a:pt x="0" y="0"/>
                  </a:moveTo>
                  <a:lnTo>
                    <a:pt x="8844408" y="0"/>
                  </a:lnTo>
                  <a:lnTo>
                    <a:pt x="8844408" y="5832323"/>
                  </a:lnTo>
                  <a:lnTo>
                    <a:pt x="0" y="583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790" r="0" b="-4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570854" y="757565"/>
              <a:ext cx="4993005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un</a:t>
              </a:r>
              <a:r>
                <a:rPr lang="en-US" b="true" sz="210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projet "plug &amp; play"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36175" y="2427553"/>
              <a:ext cx="6627684" cy="1644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+OTA</a:t>
              </a: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 Logging </a:t>
              </a:r>
            </a:p>
            <a:p>
              <a:pPr algn="ctr">
                <a:lnSpc>
                  <a:spcPts val="3301"/>
                </a:lnSpc>
                <a:spcBef>
                  <a:spcPct val="0"/>
                </a:spcBef>
              </a:pPr>
              <a:r>
                <a:rPr lang="en-US" sz="235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+  Fusion capteurs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936175" y="361103"/>
              <a:ext cx="1288575" cy="1288575"/>
            </a:xfrm>
            <a:custGeom>
              <a:avLst/>
              <a:gdLst/>
              <a:ahLst/>
              <a:cxnLst/>
              <a:rect r="r" b="b" t="t" l="l"/>
              <a:pathLst>
                <a:path h="1288575" w="1288575">
                  <a:moveTo>
                    <a:pt x="0" y="0"/>
                  </a:moveTo>
                  <a:lnTo>
                    <a:pt x="1288575" y="0"/>
                  </a:lnTo>
                  <a:lnTo>
                    <a:pt x="1288575" y="1288575"/>
                  </a:lnTo>
                  <a:lnTo>
                    <a:pt x="0" y="128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46356">
            <a:off x="11193541" y="-786425"/>
            <a:ext cx="7918178" cy="11789329"/>
            <a:chOff x="0" y="0"/>
            <a:chExt cx="2085446" cy="3105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5446" cy="3105008"/>
            </a:xfrm>
            <a:custGeom>
              <a:avLst/>
              <a:gdLst/>
              <a:ahLst/>
              <a:cxnLst/>
              <a:rect r="r" b="b" t="t" l="l"/>
              <a:pathLst>
                <a:path h="3105008" w="2085446">
                  <a:moveTo>
                    <a:pt x="0" y="0"/>
                  </a:moveTo>
                  <a:lnTo>
                    <a:pt x="2085446" y="0"/>
                  </a:lnTo>
                  <a:lnTo>
                    <a:pt x="2085446" y="3105008"/>
                  </a:lnTo>
                  <a:lnTo>
                    <a:pt x="0" y="3105008"/>
                  </a:ln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085446" cy="3095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831" y="5003464"/>
            <a:ext cx="859078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291915"/>
                </a:solidFill>
                <a:latin typeface="Be Vietnam"/>
                <a:ea typeface="Be Vietnam"/>
                <a:cs typeface="Be Vietnam"/>
                <a:sym typeface="Be Vietnam"/>
              </a:rPr>
              <a:t>Merci de votre attention !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14044" y="945408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21B19"/>
                </a:solidFill>
                <a:latin typeface="Be Vietnam"/>
                <a:ea typeface="Be Vietnam"/>
                <a:cs typeface="Be Vietnam"/>
                <a:sym typeface="Be Vietnam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462" y="1842342"/>
            <a:ext cx="7951524" cy="150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9289" spc="-92">
                <a:solidFill>
                  <a:srgbClr val="291915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QUESTIONS 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85286">
            <a:off x="12148630" y="2731265"/>
            <a:ext cx="4713452" cy="5190927"/>
          </a:xfrm>
          <a:custGeom>
            <a:avLst/>
            <a:gdLst/>
            <a:ahLst/>
            <a:cxnLst/>
            <a:rect r="r" b="b" t="t" l="l"/>
            <a:pathLst>
              <a:path h="5190927" w="4713452">
                <a:moveTo>
                  <a:pt x="0" y="0"/>
                </a:moveTo>
                <a:lnTo>
                  <a:pt x="4713452" y="0"/>
                </a:lnTo>
                <a:lnTo>
                  <a:pt x="4713452" y="5190926"/>
                </a:lnTo>
                <a:lnTo>
                  <a:pt x="0" y="519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DAHMpKJNQtw</dc:identifier>
  <dcterms:modified xsi:type="dcterms:W3CDTF">2011-08-01T06:04:30Z</dcterms:modified>
  <cp:revision>1</cp:revision>
  <dc:title>Présentation Projet Entreprise Moderne Simple Beige Blanc Coloré</dc:title>
</cp:coreProperties>
</file>